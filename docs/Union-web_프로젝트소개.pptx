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CFAF7"/>
                </a:solidFill>
                <a:latin typeface="맑은 고딕"/>
              </a:rPr>
              <a:t>Union-web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46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BB3A0"/>
                </a:solidFill>
                <a:latin typeface="맑은 고딕"/>
              </a:rPr>
              <a:t>AI 수어 인식 기반 실시간 화상회의 플랫폼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맑은 고딕"/>
              </a:rPr>
              <a:t>청각장애인과 비장애인이 자막 없이도 자연스럽게 소통할 수 있는 화상회의 서비스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40280"/>
            <a:ext cx="2194560" cy="508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프로젝트 개요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문제의식: 화상회의에서 수어 사용자는 실시간으로 의사를 전달하기 어렵고, 별도 통역 인력 없이는 소통이 제한됨</a:t>
            </a:r>
          </a:p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목표: 카메라로 촬영한 수어(지문자)를 AI가 실시간으로 인식해 자동으로 한글 자막을 생성/전송</a:t>
            </a:r>
          </a:p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핵심 가치</a:t>
            </a:r>
          </a:p>
          <a:p>
            <a:pPr lvl="1">
              <a:lnSpc>
                <a:spcPct val="130000"/>
              </a:lnSpc>
            </a:pPr>
            <a:r>
              <a:rPr sz="1700">
                <a:solidFill>
                  <a:srgbClr val="9CA3AF"/>
                </a:solidFill>
                <a:latin typeface="맑은 고딕"/>
              </a:rPr>
              <a:t>-  실시간성 - 화상회의 도중 지연 없이 자막 생성</a:t>
            </a:r>
          </a:p>
          <a:p>
            <a:pPr lvl="1">
              <a:lnSpc>
                <a:spcPct val="130000"/>
              </a:lnSpc>
            </a:pPr>
            <a:r>
              <a:rPr sz="1700">
                <a:solidFill>
                  <a:srgbClr val="9CA3AF"/>
                </a:solidFill>
                <a:latin typeface="맑은 고딕"/>
              </a:rPr>
              <a:t>-  접근성 - 별도 장비 없이 웹캠 + 브라우저만으로 사용 가능</a:t>
            </a:r>
          </a:p>
          <a:p>
            <a:pPr lvl="1">
              <a:lnSpc>
                <a:spcPct val="130000"/>
              </a:lnSpc>
            </a:pPr>
            <a:r>
              <a:rPr sz="1700">
                <a:solidFill>
                  <a:srgbClr val="9CA3AF"/>
                </a:solidFill>
                <a:latin typeface="맑은 고딕"/>
              </a:rPr>
              <a:t>-  확장성 - 지문자 인식에서 시작해 단어/문장 단위 인식으로 확장 예정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전체 시스템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965960" cy="118872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CFAF7"/>
                </a:solidFill>
                <a:latin typeface="맑은 고딕"/>
              </a:rPr>
              <a:t>브라우저
(WebRTC 화상통화)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24912" y="2103120"/>
            <a:ext cx="1965960" cy="118872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CFAF7"/>
                </a:solidFill>
                <a:latin typeface="맑은 고딕"/>
              </a:rPr>
              <a:t>Flask-SocketIO
서버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68880" y="2697480"/>
            <a:ext cx="256032" cy="0"/>
          </a:xfrm>
          <a:prstGeom prst="line">
            <a:avLst/>
          </a:prstGeom>
          <a:ln w="28575">
            <a:solidFill>
              <a:srgbClr val="2BB3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946904" y="2103120"/>
            <a:ext cx="1965960" cy="118872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CFAF7"/>
                </a:solidFill>
                <a:latin typeface="맑은 고딕"/>
              </a:rPr>
              <a:t>MediaPipe
손 랜드마크 검출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90872" y="2697480"/>
            <a:ext cx="256032" cy="0"/>
          </a:xfrm>
          <a:prstGeom prst="line">
            <a:avLst/>
          </a:prstGeom>
          <a:ln w="28575">
            <a:solidFill>
              <a:srgbClr val="2BB3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68896" y="2103120"/>
            <a:ext cx="1965960" cy="118872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CFAF7"/>
                </a:solidFill>
                <a:latin typeface="맑은 고딕"/>
              </a:rPr>
              <a:t>LSTM 모델
(자모 예측)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912864" y="2697480"/>
            <a:ext cx="256032" cy="0"/>
          </a:xfrm>
          <a:prstGeom prst="line">
            <a:avLst/>
          </a:prstGeom>
          <a:ln w="28575">
            <a:solidFill>
              <a:srgbClr val="2BB3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390888" y="2103120"/>
            <a:ext cx="1965960" cy="118872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>
                <a:solidFill>
                  <a:srgbClr val="FCFAF7"/>
                </a:solidFill>
                <a:latin typeface="맑은 고딕"/>
              </a:rPr>
              <a:t>자모→음절 조합
실시간 자막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34856" y="2697480"/>
            <a:ext cx="256032" cy="0"/>
          </a:xfrm>
          <a:prstGeom prst="line">
            <a:avLst/>
          </a:prstGeom>
          <a:ln w="28575">
            <a:solidFill>
              <a:srgbClr val="2BB3A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3931920"/>
            <a:ext cx="10332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600">
                <a:solidFill>
                  <a:srgbClr val="FCFAF7"/>
                </a:solidFill>
                <a:latin typeface="맑은 고딕"/>
              </a:rPr>
              <a:t>▸ 각 참가자의 카메라 프레임을 서버로 전송 -&gt; 서버에서 MediaPipe로 손 랜드마크 추출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FCFAF7"/>
                </a:solidFill>
                <a:latin typeface="맑은 고딕"/>
              </a:rPr>
              <a:t>▸ 10프레임 시퀀스를 LSTM 모델에 입력해 자모(지문자) 예측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FCFAF7"/>
                </a:solidFill>
                <a:latin typeface="맑은 고딕"/>
              </a:rPr>
              <a:t>▸ 예측된 자모를 음절로 조합해 실시간 자막(sign_progress)과 완성 문장(sign_result)으로 송출</a:t>
            </a:r>
          </a:p>
          <a:p>
            <a:pPr>
              <a:lnSpc>
                <a:spcPct val="130000"/>
              </a:lnSpc>
            </a:pPr>
            <a:r>
              <a:rPr sz="1600">
                <a:solidFill>
                  <a:srgbClr val="FCFAF7"/>
                </a:solidFill>
                <a:latin typeface="맑은 고딕"/>
              </a:rPr>
              <a:t>▸ 무거운 연산(MediaPipe/TensorFlow)은 별도 스레드(eventlet tpool)에서 처리해 여러 참가자가 동시에 접속해도 서버가 멈추지 않도록 구성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핵심 기능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377440" cy="8686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CFAF7"/>
                </a:solidFill>
                <a:latin typeface="맑은 고딕"/>
              </a:rPr>
              <a:t>회원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0" y="1920240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CFAF7"/>
                </a:solidFill>
                <a:latin typeface="맑은 고딕"/>
              </a:rPr>
              <a:t>회원가입 / 로그인 / 아이디·비밀번호 찾기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971800"/>
            <a:ext cx="2377440" cy="8686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CFAF7"/>
                </a:solidFill>
                <a:latin typeface="맑은 고딕"/>
              </a:rPr>
              <a:t>실시간 화상회의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29000" y="2971800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CFAF7"/>
                </a:solidFill>
                <a:latin typeface="맑은 고딕"/>
              </a:rPr>
              <a:t>WebRTC 기반 1:1 화상통화, 음성/영상 On-Off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2377440" cy="8686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CFAF7"/>
                </a:solidFill>
                <a:latin typeface="맑은 고딕"/>
              </a:rPr>
              <a:t>실시간 채팅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4023360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CFAF7"/>
                </a:solidFill>
                <a:latin typeface="맑은 고딕"/>
              </a:rPr>
              <a:t>텍스트 및 파일 공유 채팅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074920"/>
            <a:ext cx="2377440" cy="8686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CFAF7"/>
                </a:solidFill>
                <a:latin typeface="맑은 고딕"/>
              </a:rPr>
              <a:t>실시간 수어 자막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5074920"/>
            <a:ext cx="777240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0">
                <a:solidFill>
                  <a:srgbClr val="FCFAF7"/>
                </a:solidFill>
                <a:latin typeface="맑은 고딕"/>
              </a:rPr>
              <a:t>손 모양을 인식해 자동으로 한글 자막 생성 및 상대방에게 전송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RECOGNITION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수어 인식 파이프라인 상세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카메라 프레임 캡처 (약 35fps, 브라우저 -&gt; 서버 전송)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048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0487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MediaPipe로 오른손 21개 랜드마크 추출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266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26664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CFAF7"/>
                </a:solidFill>
                <a:latin typeface="맑은 고딕"/>
              </a:rPr>
              <a:t>관절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벡터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20개 +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관절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각도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15개 = 55차원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특징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벡터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계산</a:t>
            </a:r>
            <a:endParaRPr sz="1600" b="0" dirty="0">
              <a:solidFill>
                <a:srgbClr val="FCFAF7"/>
              </a:solidFill>
              <a:latin typeface="맑은 고딕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6484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648456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10프레임 시퀀스로 누적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702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70248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LSTM 모델로 자모(31개 클래스 중 1개) 예측 + 신뢰도 확인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92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8920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FCFAF7"/>
                </a:solidFill>
                <a:latin typeface="맑은 고딕"/>
              </a:rPr>
              <a:t>자음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/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모음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전환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감지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시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직전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음운을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확정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-&gt;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음절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조합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 (</a:t>
            </a:r>
            <a:r>
              <a:rPr sz="1600" b="0" dirty="0" err="1">
                <a:solidFill>
                  <a:srgbClr val="FCFAF7"/>
                </a:solidFill>
                <a:latin typeface="맑은 고딕"/>
              </a:rPr>
              <a:t>join_jamos</a:t>
            </a:r>
            <a:r>
              <a:rPr sz="1600" b="0" dirty="0">
                <a:solidFill>
                  <a:srgbClr val="FCFAF7"/>
                </a:solidFill>
                <a:latin typeface="맑은 고딕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5138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6B4A"/>
                </a:solidFill>
                <a:latin typeface="맑은 고딕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513832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완성된 단어를 문장으로 묶어 실시간 자막으로 상대방에게 전송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MODEL 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왜 YOLO가 아닌 LSTM 시퀀스 모델인가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332720" cy="2448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0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초기에는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YOLO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기반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전이학습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객체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탐지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)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으로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손모양을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인식하는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방식을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검토함</a:t>
            </a:r>
            <a:endParaRPr sz="20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20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그러나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YOLO는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정지된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한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프레임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안에서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바운딩박스로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손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모양을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탐지하는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방식이라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실시간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영상에서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이어지는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2000" dirty="0" err="1">
                <a:solidFill>
                  <a:srgbClr val="FCFAF7"/>
                </a:solidFill>
                <a:latin typeface="맑은 고딕"/>
              </a:rPr>
              <a:t>손동작의</a:t>
            </a:r>
            <a:r>
              <a:rPr sz="2000" dirty="0">
                <a:solidFill>
                  <a:srgbClr val="FCFAF7"/>
                </a:solidFill>
                <a:latin typeface="맑은 고딕"/>
              </a:rPr>
              <a:t> 시</a:t>
            </a:r>
            <a:r>
              <a:rPr lang="ko-KR" altLang="en-US" sz="2000" dirty="0" err="1">
                <a:solidFill>
                  <a:srgbClr val="FCFAF7"/>
                </a:solidFill>
                <a:latin typeface="맑은 고딕"/>
              </a:rPr>
              <a:t>간적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 흐름</a:t>
            </a:r>
            <a:r>
              <a:rPr lang="en-US" altLang="ko-KR" sz="20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시퀀스</a:t>
            </a:r>
            <a:r>
              <a:rPr lang="en-US" altLang="ko-KR" sz="2000" dirty="0">
                <a:solidFill>
                  <a:srgbClr val="FCFAF7"/>
                </a:solidFill>
                <a:latin typeface="맑은 고딕"/>
              </a:rPr>
              <a:t>)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을 반영하지 못할 뿐더러</a:t>
            </a:r>
            <a:endParaRPr lang="en-US" altLang="ko-KR" sz="20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사용자가 </a:t>
            </a:r>
            <a:r>
              <a:rPr lang="ko-KR" altLang="en-US" sz="2000" dirty="0" err="1">
                <a:solidFill>
                  <a:srgbClr val="FCFAF7"/>
                </a:solidFill>
                <a:latin typeface="맑은 고딕"/>
              </a:rPr>
              <a:t>의도치않은</a:t>
            </a:r>
            <a:r>
              <a:rPr lang="en-US" altLang="ko-KR" sz="20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수화가 인식되는 문제가 생김</a:t>
            </a:r>
            <a:endParaRPr lang="en-US" altLang="ko-KR" sz="20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▸ 화상회의처럼 끊김 없는 실시간 처리가 핵심인 서비스에는</a:t>
            </a:r>
            <a:r>
              <a:rPr lang="en-US" altLang="ko-KR" sz="20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프레임 간 흐름을 학습하는 </a:t>
            </a:r>
            <a:r>
              <a:rPr lang="en-US" altLang="ko-KR" sz="2000" dirty="0">
                <a:solidFill>
                  <a:srgbClr val="FCFAF7"/>
                </a:solidFill>
                <a:latin typeface="맑은 고딕"/>
              </a:rPr>
              <a:t>LSTM </a:t>
            </a:r>
            <a:r>
              <a:rPr lang="ko-KR" altLang="en-US" sz="2000" dirty="0">
                <a:solidFill>
                  <a:srgbClr val="FCFAF7"/>
                </a:solidFill>
                <a:latin typeface="맑은 고딕"/>
              </a:rPr>
              <a:t>기반 시퀀스 모델이 더 적합하다고 판단해 채택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CURRENT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현재 상태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2000">
                <a:solidFill>
                  <a:srgbClr val="FCFAF7"/>
                </a:solidFill>
                <a:latin typeface="맑은 고딕"/>
              </a:rPr>
              <a:t>▸ 현재 배포된 인식 모델은 파이프라인 검증을 위해 공개된 모델을 가져와 연동한 것으로, 자체 데이터로 학습한 모델이 아님</a:t>
            </a:r>
          </a:p>
          <a:p>
            <a:pPr>
              <a:lnSpc>
                <a:spcPct val="130000"/>
              </a:lnSpc>
            </a:pPr>
            <a:r>
              <a:rPr sz="2000">
                <a:solidFill>
                  <a:srgbClr val="FCFAF7"/>
                </a:solidFill>
                <a:latin typeface="맑은 고딕"/>
              </a:rPr>
              <a:t>▸ 지문자(자음/모음) 31종만 인식 가능 - 실제 대화에 필요한 단어/문장 단위 수어는 아직 지원하지 않음</a:t>
            </a:r>
          </a:p>
          <a:p>
            <a:pPr>
              <a:lnSpc>
                <a:spcPct val="130000"/>
              </a:lnSpc>
            </a:pPr>
            <a:r>
              <a:rPr sz="2000">
                <a:solidFill>
                  <a:srgbClr val="FCFAF7"/>
                </a:solidFill>
                <a:latin typeface="맑은 고딕"/>
              </a:rPr>
              <a:t>▸ 따라서 다음 단계로 자체 데이터셋을 구축하고 모델을 직접 학습시키는 과정이 필요함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TECHNICAL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기술적 한계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332720" cy="3213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8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시퀀스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대기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지연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: LSTM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모델은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10프레임이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모여야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예측하므로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사용자가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손모양을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유지한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채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잠시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기다려야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함</a:t>
            </a:r>
          </a:p>
          <a:p>
            <a:pPr lvl="1">
              <a:lnSpc>
                <a:spcPct val="130000"/>
              </a:lnSpc>
            </a:pPr>
            <a:r>
              <a:rPr sz="1600" dirty="0">
                <a:solidFill>
                  <a:srgbClr val="9CA3AF"/>
                </a:solidFill>
                <a:latin typeface="맑은 고딕"/>
              </a:rPr>
              <a:t>- 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이론상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35fps면 약 0.3초면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충분하지만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,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실제로는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프레임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캡처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후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서버로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전송하는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통신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시간이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더해져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체감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지연이</a:t>
            </a:r>
            <a:r>
              <a:rPr sz="1600" dirty="0">
                <a:solidFill>
                  <a:srgbClr val="9CA3AF"/>
                </a:solidFill>
                <a:latin typeface="맑은 고딕"/>
              </a:rPr>
              <a:t> </a:t>
            </a:r>
            <a:r>
              <a:rPr sz="1600" dirty="0" err="1">
                <a:solidFill>
                  <a:srgbClr val="9CA3AF"/>
                </a:solidFill>
                <a:latin typeface="맑은 고딕"/>
              </a:rPr>
              <a:t>발생</a:t>
            </a:r>
            <a:endParaRPr sz="1600" dirty="0">
              <a:solidFill>
                <a:srgbClr val="9CA3AF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8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자모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조합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알고리즘의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한계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: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실시간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영상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특성상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손이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다음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동작으로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이동하는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전환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구간에서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사용자가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의도하지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않은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자모가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순간적으로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인식되는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경우가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있음</a:t>
            </a:r>
            <a:r>
              <a:rPr lang="en-US" dirty="0">
                <a:solidFill>
                  <a:srgbClr val="FCFAF7"/>
                </a:solidFill>
                <a:latin typeface="맑은 고딕"/>
              </a:rPr>
              <a:t>(YOLO</a:t>
            </a:r>
            <a:r>
              <a:rPr lang="ko-KR" altLang="en-US" dirty="0">
                <a:solidFill>
                  <a:srgbClr val="FCFAF7"/>
                </a:solidFill>
                <a:latin typeface="맑은 고딕"/>
              </a:rPr>
              <a:t>기반 모델에 비해 많이 나아졌지만 아직 존재</a:t>
            </a:r>
            <a:r>
              <a:rPr lang="en-US" altLang="ko-KR" dirty="0">
                <a:solidFill>
                  <a:srgbClr val="FCFAF7"/>
                </a:solidFill>
                <a:latin typeface="맑은 고딕"/>
              </a:rPr>
              <a:t>)</a:t>
            </a:r>
            <a:endParaRPr sz="18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800" dirty="0">
                <a:solidFill>
                  <a:srgbClr val="FCFAF7"/>
                </a:solidFill>
                <a:latin typeface="맑은 고딕"/>
              </a:rPr>
              <a:t>▸ 팀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구성의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한계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: 팀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전원이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모델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학습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경험이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전무한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1학년으로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구성되어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학습에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필요한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하이퍼파라미터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신뢰도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임계값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시퀀스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길이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, epoch 수 등)를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충분한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근거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없이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800" dirty="0" err="1">
                <a:solidFill>
                  <a:srgbClr val="FCFAF7"/>
                </a:solidFill>
                <a:latin typeface="맑은 고딕"/>
              </a:rPr>
              <a:t>시행착오로</a:t>
            </a:r>
            <a:r>
              <a:rPr sz="18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lang="ko-KR" altLang="en-US" dirty="0">
                <a:solidFill>
                  <a:srgbClr val="FCFAF7"/>
                </a:solidFill>
                <a:latin typeface="맑은 고딕"/>
              </a:rPr>
              <a:t>정하고 있음</a:t>
            </a:r>
            <a:endParaRPr sz="1800" dirty="0">
              <a:solidFill>
                <a:srgbClr val="FCFAF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FUTURE PLAN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자체 데이터셋 구축 및 모델 학습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맑은 고딕"/>
              </a:rPr>
              <a:t>수어 방식에 따라 서로 다른 특징과 구조를 갖는 2가지 모델을 별도로 학습한다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77440"/>
            <a:ext cx="5120640" cy="6400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① 음운(지문자) 인식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546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대상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: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자음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/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모음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낱자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 31종</a:t>
            </a:r>
          </a:p>
          <a:p>
            <a:pPr>
              <a:lnSpc>
                <a:spcPct val="130000"/>
              </a:lnSpc>
            </a:pPr>
            <a:r>
              <a:rPr sz="15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입력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: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오른손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 21개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랜드마크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 (55차원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특징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, 10프레임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시퀀스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)</a:t>
            </a:r>
          </a:p>
          <a:p>
            <a:pPr>
              <a:lnSpc>
                <a:spcPct val="130000"/>
              </a:lnSpc>
            </a:pPr>
            <a:r>
              <a:rPr sz="15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구조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: LSTM(64) -&gt; Dropout -&gt; Dense(32) -&gt; Dense(</a:t>
            </a:r>
            <a:r>
              <a:rPr sz="1500" dirty="0" err="1">
                <a:solidFill>
                  <a:srgbClr val="FCFAF7"/>
                </a:solidFill>
                <a:latin typeface="맑은 고딕"/>
              </a:rPr>
              <a:t>softmax</a:t>
            </a:r>
            <a:r>
              <a:rPr sz="1500" dirty="0">
                <a:solidFill>
                  <a:srgbClr val="FCFAF7"/>
                </a:solidFill>
                <a:latin typeface="맑은 고딕"/>
              </a:rPr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377440"/>
            <a:ext cx="5120640" cy="6400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② 단어 인식 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1546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대상: 나는 / 맛있다 / 고양이 / 식사 등 단어 단위 수어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입력: 양손 21점x2 + 어깨·팔꿈치·손목 6점 (150차원 특징, 30프레임 시퀀스)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구조: LSTM(64,seq) -&gt; LSTM(64) -&gt; Dropout -&gt; Dense(32) -&gt; Dense(softmax)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FUTURE PLAN 1 (cont.)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데이터 수집 방법 2가지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5120640" cy="6400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방법 1. 직접 촬영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웹캠으로 클래스별 영상을 직접 녹화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MediaPipe로 랜드마크 추출 후 시퀀스(npy)로 변환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소규모 클래스 확장, 특정 상황 데이터 보강에 적합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120640" cy="640080"/>
          </a:xfrm>
          <a:prstGeom prst="roundRect">
            <a:avLst/>
          </a:prstGeom>
          <a:solidFill>
            <a:srgbClr val="12162B"/>
          </a:solidFill>
          <a:ln w="19050">
            <a:solidFill>
              <a:srgbClr val="2BB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방법 2. AIHub 공개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69748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AIHub “수어 영상” 데이터셋 활용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지화 1,000종 + 수어 단어 3,000종 + 수어 문장 2,000종, 형태소 단위 라벨링 제공</a:t>
            </a:r>
          </a:p>
          <a:p>
            <a:pPr>
              <a:lnSpc>
                <a:spcPct val="130000"/>
              </a:lnSpc>
            </a:pPr>
            <a:r>
              <a:rPr sz="1500">
                <a:solidFill>
                  <a:srgbClr val="FCFAF7"/>
                </a:solidFill>
                <a:latin typeface="맑은 고딕"/>
              </a:rPr>
              <a:t>▸ 대규모 데이터 확보로 모델 일반화 성능 향상에 활용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064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맑은 고딕"/>
              </a:rPr>
              <a:t>출처: aihub.or.kr - 수어 영상 데이터셋 (dataSetSn=103)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FUTURE PLAN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dirty="0" err="1">
                <a:solidFill>
                  <a:srgbClr val="FCFAF7"/>
                </a:solidFill>
                <a:latin typeface="맑은 고딕"/>
              </a:rPr>
              <a:t>텍스트·음성</a:t>
            </a:r>
            <a:r>
              <a:rPr sz="3000" b="1" dirty="0">
                <a:solidFill>
                  <a:srgbClr val="FCFAF7"/>
                </a:solidFill>
                <a:latin typeface="맑은 고딕"/>
              </a:rPr>
              <a:t> → </a:t>
            </a:r>
            <a:r>
              <a:rPr sz="3000" b="1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3000" b="1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FCFAF7"/>
                </a:solidFill>
                <a:latin typeface="맑은 고딕"/>
              </a:rPr>
              <a:t>애니메이션</a:t>
            </a:r>
            <a:r>
              <a:rPr sz="3000" b="1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3000" b="1" dirty="0" err="1">
                <a:solidFill>
                  <a:srgbClr val="FCFAF7"/>
                </a:solidFill>
                <a:latin typeface="맑은 고딕"/>
              </a:rPr>
              <a:t>변환</a:t>
            </a:r>
            <a:endParaRPr sz="3000" b="1" dirty="0">
              <a:solidFill>
                <a:srgbClr val="FCFAF7"/>
              </a:solidFill>
              <a:latin typeface="맑은 고딕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948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현재는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-&gt;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텍스트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자막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방향만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지원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반대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방향으로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입력된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텍스트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또는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음성을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3D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아바타의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동작으로</a:t>
            </a:r>
            <a:r>
              <a:rPr sz="1900" dirty="0">
                <a:solidFill>
                  <a:srgbClr val="FF0000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F0000"/>
                </a:solidFill>
                <a:latin typeface="맑은 고딕"/>
              </a:rPr>
              <a:t>변환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하는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기능을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계획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청각장애인이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상대방의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말(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텍스트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/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음성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)을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애니메이션으로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시각적으로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확인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가능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-&gt;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화상회의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내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양방향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↔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텍스트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/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음성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실시간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번역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완성</a:t>
            </a:r>
            <a:endParaRPr sz="1900" dirty="0">
              <a:solidFill>
                <a:srgbClr val="FCFAF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FUTURE PLAN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음성 → 전사문(STT)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11885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상대방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비장애인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)의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음성을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실시간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음성인식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(STT)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lang="ko-KR" altLang="en-US" sz="1900" dirty="0" err="1">
                <a:solidFill>
                  <a:srgbClr val="FCFAF7"/>
                </a:solidFill>
                <a:latin typeface="맑은 고딕"/>
              </a:rPr>
              <a:t>전사문</a:t>
            </a:r>
            <a:r>
              <a:rPr lang="ko-KR" altLang="en-US" sz="1900" dirty="0">
                <a:solidFill>
                  <a:srgbClr val="FCFAF7"/>
                </a:solidFill>
                <a:latin typeface="맑은 고딕"/>
              </a:rPr>
              <a:t> 작성</a:t>
            </a:r>
            <a:endParaRPr lang="en-US" altLang="ko-KR"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생성된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전사문은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자막으로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표시하거나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,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향후계획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2(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애니메이션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변환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)의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입력으로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사용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결과적으로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'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음성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-&gt;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전사문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-&gt;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애니메이션'으로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이어지는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파이프라인의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첫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단계</a:t>
            </a:r>
            <a:endParaRPr sz="1900" dirty="0">
              <a:solidFill>
                <a:srgbClr val="FCFAF7"/>
              </a:solidFill>
              <a:latin typeface="맑은 고딕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FUTURE PLAN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단어 나열 → 자연스러운 문장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수어는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조사·어미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없이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핵심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단어만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순서대로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나열하는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방식으로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표현되는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경우가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많음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예) “나 /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학교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/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가다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”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처럼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인식된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단어열은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자체로는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자연스러운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한국어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문장이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아님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인식된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단어열을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자연어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생성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(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언어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모델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)을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통해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조사·어미가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포함된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자연스러운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문장으로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재구성하는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장치가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필요</a:t>
            </a:r>
            <a:endParaRPr sz="1900" dirty="0">
              <a:solidFill>
                <a:srgbClr val="FCFAF7"/>
              </a:solidFill>
              <a:latin typeface="맑은 고딕"/>
            </a:endParaRPr>
          </a:p>
          <a:p>
            <a:pPr>
              <a:lnSpc>
                <a:spcPct val="130000"/>
              </a:lnSpc>
            </a:pPr>
            <a:r>
              <a:rPr sz="1900" dirty="0">
                <a:solidFill>
                  <a:srgbClr val="FCFAF7"/>
                </a:solidFill>
                <a:latin typeface="맑은 고딕"/>
              </a:rPr>
              <a:t>▸ 예) “나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학교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가다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” -&gt; “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저는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학교에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 </a:t>
            </a:r>
            <a:r>
              <a:rPr sz="1900" dirty="0" err="1">
                <a:solidFill>
                  <a:srgbClr val="FCFAF7"/>
                </a:solidFill>
                <a:latin typeface="맑은 고딕"/>
              </a:rPr>
              <a:t>갑니다</a:t>
            </a:r>
            <a:r>
              <a:rPr sz="1900" dirty="0">
                <a:solidFill>
                  <a:srgbClr val="FCFAF7"/>
                </a:solidFill>
                <a:latin typeface="맑은 고딕"/>
              </a:rPr>
              <a:t>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dirty="0">
                <a:solidFill>
                  <a:srgbClr val="2BB3A0"/>
                </a:solidFill>
                <a:latin typeface="맑은 고딕"/>
              </a:rPr>
              <a:t>FUTURE PLAN </a:t>
            </a:r>
            <a:r>
              <a:rPr lang="en-US" sz="1500" b="1" dirty="0">
                <a:solidFill>
                  <a:srgbClr val="2BB3A0"/>
                </a:solidFill>
                <a:latin typeface="맑은 고딕"/>
              </a:rPr>
              <a:t>5</a:t>
            </a:r>
            <a:endParaRPr sz="1500" b="1" dirty="0">
              <a:solidFill>
                <a:srgbClr val="2BB3A0"/>
              </a:solidFill>
              <a:latin typeface="맑은 고딕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수어 → 음성 변환 장치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인식된 수어 자막(문장)을 음성(TTS)으로 변환해 상대방에게 들려주는 기능도 함께 검토 중</a:t>
            </a:r>
          </a:p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화상회의뿐 아니라 오프라인 대면 상황에서도 활용 가능한 방향으로 확장 고려</a:t>
            </a:r>
          </a:p>
          <a:p>
            <a:pPr>
              <a:lnSpc>
                <a:spcPct val="130000"/>
              </a:lnSpc>
            </a:pPr>
            <a:r>
              <a:rPr sz="1900">
                <a:solidFill>
                  <a:srgbClr val="FCFAF7"/>
                </a:solidFill>
                <a:latin typeface="맑은 고딕"/>
              </a:rPr>
              <a:t>▸ 구체적인 설계는 앞선 4가지 향후계획 이후 순차적으로 진행 예정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전체 로드맵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554480" cy="777240"/>
          </a:xfrm>
          <a:prstGeom prst="roundRect">
            <a:avLst/>
          </a:prstGeom>
          <a:solidFill>
            <a:srgbClr val="FF6B4A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현재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28800"/>
            <a:ext cx="8595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지문자 인식 (외부 모델) + 화상회의/채팅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1554480" cy="777240"/>
          </a:xfrm>
          <a:prstGeom prst="roundRect">
            <a:avLst/>
          </a:prstGeom>
          <a:solidFill>
            <a:srgbClr val="FF6B4A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1단계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2743200"/>
            <a:ext cx="8595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자체 데이터셋 구축 및 음운/단어 모델 학습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57600"/>
            <a:ext cx="1554480" cy="777240"/>
          </a:xfrm>
          <a:prstGeom prst="roundRect">
            <a:avLst/>
          </a:prstGeom>
          <a:solidFill>
            <a:srgbClr val="FF6B4A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2단계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3657600"/>
            <a:ext cx="8595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음성 → 전사문(STT) 및 자연스러운 문장 변환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72000"/>
            <a:ext cx="1554480" cy="777240"/>
          </a:xfrm>
          <a:prstGeom prst="roundRect">
            <a:avLst/>
          </a:prstGeom>
          <a:solidFill>
            <a:srgbClr val="FF6B4A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3단계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4572000"/>
            <a:ext cx="8595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텍스트·음성 → 수어 애니메이션 변환 (양방향 번역 완성)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486400"/>
            <a:ext cx="1554480" cy="777240"/>
          </a:xfrm>
          <a:prstGeom prst="roundRect">
            <a:avLst/>
          </a:prstGeom>
          <a:solidFill>
            <a:srgbClr val="FF6B4A"/>
          </a:solidFill>
          <a:ln w="19050">
            <a:solidFill>
              <a:srgbClr val="FF6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>
                <a:solidFill>
                  <a:srgbClr val="FCFAF7"/>
                </a:solidFill>
                <a:latin typeface="맑은 고딕"/>
              </a:rPr>
              <a:t>4단계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5486400"/>
            <a:ext cx="8595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FCFAF7"/>
                </a:solidFill>
                <a:latin typeface="맑은 고딕"/>
              </a:rPr>
              <a:t>수어 → 음성 변환 장치 검토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부록: Union-web 폴더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4672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app.py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Flask+Socket.IO 서버 - 라우팅, 회원 DB, 수어 인식(MediaPipe+LSTM), 자모 조합 로직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requirements.txt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의존 패키지 목록 (Flask, mediapipe, tensorflow 등 버전 고정)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unicode.py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자모 결합/분리 유틸 (join_jamos 등)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gesture_classifier.h5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배포된 지문자 인식 LSTM 모델 (외부에서 가져온 모델)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modules/hand_module.py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MediaPipe HandLandmarker 래퍼 (오른손 랜드마크 검출)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modules/utils.py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손 랜드마크 -&gt; 55차원 특징 벡터 변환(Vector_Normalization)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models/hand_landmarker.task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MediaPipe 손 검출 모델 번들 파일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database/users.xlsx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회원 정보 저장 엑셀 DB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templates/index.html 등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랜딩/회원가입/계정찾기/소개 페이지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templates/chatentry.html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화상회의 입장 전 대기실 (카메라 미리보기)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templates/room.html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화상회의방 - WebRTC 화상통화 + 실시간 자막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static/js/room_ui.js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화상회의방 클라이언트 - WebRTC, 프레임 캡처/전송, 자막 표시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static/js/chatentry.js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입장 전 카메라/마이크 미리보기 로직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BB3A0"/>
                          </a:solidFill>
                          <a:latin typeface="Consolas"/>
                        </a:rPr>
                        <a:t>static/js/auth.js 등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CFAF7"/>
                          </a:solidFill>
                          <a:latin typeface="맑은 고딕"/>
                        </a:rPr>
                        <a:t>로그인/회원가입/계정찾기 클라이언트 로직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1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BB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BB3A0"/>
                </a:solidFill>
                <a:latin typeface="맑은 고딕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CFAF7"/>
                </a:solidFill>
                <a:latin typeface="맑은 고딕"/>
              </a:rPr>
              <a:t>부록: KSL-Model-Training 폴더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2926080" cy="38100"/>
          </a:xfrm>
          <a:prstGeom prst="rect">
            <a:avLst/>
          </a:prstGeom>
          <a:solidFill>
            <a:srgbClr val="FF6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81360" cy="473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64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README.md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프로젝트 사용법 전체 안내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requirements.txt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의존 패키지 (mediapipe, tensorflow, scikit-learn 등)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download_mediapipe_models.py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MediaPipe HolisticLandmarker 모델 번들 다운로드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modules/holistic_module.py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MediaPipe HolisticLandmarker 래퍼 (양손+pose 검출)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modules/utils.py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음운용(55차원)/단어용(150차원) 특징 추출 함수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phoneme_model/config.py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음운 모델 설정 (31개 클래스, 시퀀스 길이 10 등)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phoneme_model/record_dataset.py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[방법1] 웹캠으로 지문자 영상 직접 녹화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phoneme_model/build_dataset_from_videos.py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녹화 영상 -&gt; 학습용 시퀀스(npy) 변환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phoneme_model/build_dataset_from_aihub.py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[방법2] AIHub 공개 데이터 -&gt; 시퀀스 변환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phoneme_model/train.py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음운 인식 LSTM 모델 학습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phoneme_model/test_webcam.py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웹캠으로 음운 모델 실시간 테스트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BB3A0"/>
                          </a:solidFill>
                          <a:latin typeface="Consolas"/>
                        </a:rPr>
                        <a:t>word_model/*.py</a:t>
                      </a:r>
                    </a:p>
                  </a:txBody>
                  <a:tcPr marT="25400" marB="25400" anchor="ctr">
                    <a:solidFill>
                      <a:srgbClr val="12162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FCFAF7"/>
                          </a:solidFill>
                          <a:latin typeface="맑은 고딕"/>
                        </a:rPr>
                        <a:t>위와 동일 구성 - 단어 인식 모델용 (150차원, 30프레임 시퀀스)</a:t>
                      </a:r>
                    </a:p>
                  </a:txBody>
                  <a:tcPr marT="25400" marB="25400" anchor="ctr">
                    <a:solidFill>
                      <a:srgbClr val="1B21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1561</Words>
  <Application>Microsoft Office PowerPoint</Application>
  <PresentationFormat>와이드스크린</PresentationFormat>
  <Paragraphs>177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대현 강</cp:lastModifiedBy>
  <cp:revision>3</cp:revision>
  <dcterms:created xsi:type="dcterms:W3CDTF">2013-01-27T09:14:16Z</dcterms:created>
  <dcterms:modified xsi:type="dcterms:W3CDTF">2026-07-12T21:36:44Z</dcterms:modified>
  <cp:category/>
</cp:coreProperties>
</file>